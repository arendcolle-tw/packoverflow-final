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Walk up, let it sit black. Ask the question out loud before clicking, so the slide doesn't spoil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Wait for the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 click]</a:t>
            </a:r>
          </a:p>
          <a:p>
            <a:r>
              <a:t>Most hands go down. That gap is what we work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A fact you can look up. Knowledge you can't. It never gets written down, except in one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Everything after 'no' is knowledge. It was in one consultant's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This happens thousands of times a day. What's left is the document the AI wrote.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Owners and documents used to mean someone knew. Not anymore.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(pause) Unless.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Nobikos. Say it out loud: no, because.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PLACEHOLDER area, fill before the pitch. A colleague asks. Nobikos answers with the consultant's own words, and who said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PLACEHOLDER area, fill before the pitch. Before he goes, Nobikos shows the whys only he holds, and asks him the few that matter. Ten minutes instead of a lost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PLACEHOLDER area, fill before the pitch. There's a fact in the system, but nobody knows why it's there or if it's still right. So Nobikos asks the one real person who can reason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Invisible when things work. It only speaks up when a why is about to 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Catch the no-because, weigh who really reasoned, ask back when one person is left, answer wherever you work. It keeps your exact words, and raw chats never leave your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 click]</a:t>
            </a:r>
          </a:p>
          <a:p>
            <a:r>
              <a:t>This is where it goes. Every answer built on AI text, built on AI text. Nobody can tell anymore what a human actually knew.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Twenty years ago someone built the mainframe. It always worked. Anyone with a question asked the AI, and that was fine. Then Jan retired.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(pause) Who still understands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(let it land) Nobody. And you can't fix what nobody understands.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That's our real risk register. Not who owns a document, but where zero or one people still know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 clicks]</a:t>
            </a:r>
          </a:p>
          <a:p>
            <a:r>
              <a:t>Remember the hands that went down? AI knows what. Your people know why. Nobikos keeps the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834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5600" b="1" i="0">
                <a:solidFill>
                  <a:srgbClr val="FFFFFF"/>
                </a:solidFill>
                <a:latin typeface="Arial"/>
              </a:rPr>
              <a:t>Hands up if you wrote something with AI this week.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21945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5000"/>
              </a:lnSpc>
            </a:pPr>
            <a:r>
              <a:rPr sz="5600" b="1" i="0">
                <a:solidFill>
                  <a:srgbClr val="FFFFFF"/>
                </a:solidFill>
                <a:latin typeface="Arial"/>
              </a:rPr>
              <a:t>Keep it up if you could explain every line.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5600" b="1" i="0">
                <a:solidFill>
                  <a:srgbClr val="E8A877"/>
                </a:solidFill>
                <a:latin typeface="Arial"/>
              </a:rPr>
              <a:t>Without the AI.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7315200" y="2011680"/>
            <a:ext cx="4206240" cy="4206240"/>
          </a:xfrm>
          <a:prstGeom prst="ellipse">
            <a:avLst/>
          </a:prstGeom>
          <a:gradFill rotWithShape="1">
            <a:gsLst>
              <a:gs pos="0">
                <a:srgbClr val="E8A877">
                  <a:alpha val="28000"/>
                </a:srgbClr>
              </a:gs>
              <a:gs pos="100000">
                <a:srgbClr val="B8688F">
                  <a:alpha val="28000"/>
                </a:srgbClr>
              </a:gs>
            </a:gsLst>
            <a:lin scaled="0" ang="18900000"/>
          </a:gradFill>
          <a:ln>
            <a:noFill/>
          </a:ln>
          <a:effectLst>
            <a:softEdge rad="757123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ar"/>
          <p:cNvSpPr/>
          <p:nvPr/>
        </p:nvSpPr>
        <p:spPr>
          <a:xfrm>
            <a:off x="5638647" y="192024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8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1672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4F8FF"/>
                </a:solidFill>
                <a:latin typeface="Arial"/>
              </a:rPr>
              <a:t>AI knows the facts.</a:t>
            </a:r>
          </a:p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E8A877"/>
                </a:solidFill>
                <a:latin typeface="Arial"/>
              </a:rPr>
              <a:t>Your people know why.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394960" cy="3566160"/>
          </a:xfrm>
          <a:prstGeom prst="roundRect">
            <a:avLst>
              <a:gd name="adj" fmla="val 5641"/>
            </a:avLst>
          </a:prstGeom>
          <a:noFill/>
          <a:ln w="19050">
            <a:solidFill>
              <a:srgbClr val="9E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9ED2FF"/>
                </a:solidFill>
                <a:latin typeface="Arial"/>
              </a:rPr>
              <a:t>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7472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F4F8FF"/>
                </a:solidFill>
                <a:latin typeface="Arial"/>
              </a:rPr>
              <a:t>You can look them up.</a:t>
            </a:r>
          </a:p>
          <a:p>
            <a:pPr algn="l">
              <a:lnSpc>
                <a:spcPct val="110000"/>
              </a:lnSpc>
              <a:spcBef>
                <a:spcPts val="1400"/>
              </a:spcBef>
            </a:pPr>
            <a:r>
              <a:rPr sz="2800" b="0" i="0">
                <a:solidFill>
                  <a:srgbClr val="F4F8FF"/>
                </a:solidFill>
                <a:latin typeface="Arial"/>
              </a:rPr>
              <a:t>The AI has all of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194560"/>
            <a:ext cx="5394960" cy="3566160"/>
          </a:xfrm>
          <a:prstGeom prst="roundRect">
            <a:avLst>
              <a:gd name="adj" fmla="val 5641"/>
            </a:avLst>
          </a:prstGeom>
          <a:solidFill>
            <a:srgbClr val="E8A877">
              <a:alpha val="12000"/>
            </a:srgbClr>
          </a:solidFill>
          <a:ln w="15875">
            <a:solidFill>
              <a:srgbClr val="E8A8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25603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E8A877"/>
                </a:solidFill>
                <a:latin typeface="Arial"/>
              </a:rPr>
              <a:t>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347472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F4F8FF"/>
                </a:solidFill>
                <a:latin typeface="Arial"/>
              </a:rPr>
              <a:t>Why we do it this way, for this client.</a:t>
            </a:r>
          </a:p>
          <a:p>
            <a:pPr algn="l">
              <a:lnSpc>
                <a:spcPct val="110000"/>
              </a:lnSpc>
              <a:spcBef>
                <a:spcPts val="1400"/>
              </a:spcBef>
            </a:pPr>
            <a:r>
              <a:rPr sz="2800" b="0" i="0">
                <a:solidFill>
                  <a:srgbClr val="F4F8FF"/>
                </a:solidFill>
                <a:latin typeface="Arial"/>
              </a:rPr>
              <a:t>It lives in one head.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7132320" y="1645920"/>
            <a:ext cx="4754880" cy="4754880"/>
          </a:xfrm>
          <a:prstGeom prst="ellipse">
            <a:avLst/>
          </a:prstGeom>
          <a:gradFill rotWithShape="1">
            <a:gsLst>
              <a:gs pos="0">
                <a:srgbClr val="E8A877">
                  <a:alpha val="28000"/>
                </a:srgbClr>
              </a:gs>
              <a:gs pos="100000">
                <a:srgbClr val="B8688F">
                  <a:alpha val="28000"/>
                </a:srgbClr>
              </a:gs>
            </a:gsLst>
            <a:lin scaled="0" ang="18900000"/>
          </a:gradFill>
          <a:ln>
            <a:noFill/>
          </a:ln>
          <a:effectLst>
            <a:softEdge rad="855878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ar"/>
          <p:cNvSpPr/>
          <p:nvPr/>
        </p:nvSpPr>
        <p:spPr>
          <a:xfrm>
            <a:off x="548640" y="5321808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8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59" y="1536192"/>
            <a:ext cx="10058400" cy="65836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9E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468880"/>
            <a:ext cx="11548872" cy="2724912"/>
          </a:xfrm>
          <a:prstGeom prst="roundRect">
            <a:avLst>
              <a:gd name="adj" fmla="val 6711"/>
            </a:avLst>
          </a:prstGeom>
          <a:solidFill>
            <a:srgbClr val="E8A877">
              <a:alpha val="8000"/>
            </a:srgbClr>
          </a:solidFill>
          <a:ln w="19050">
            <a:solidFill>
              <a:srgbClr val="E8A8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9FB0CC"/>
                </a:solidFill>
                <a:latin typeface="Arial"/>
              </a:rPr>
              <a:t>A payroll consultant and an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9ED2FF"/>
                </a:solidFill>
                <a:latin typeface="Arial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9ED2FF"/>
                </a:solidFill>
                <a:latin typeface="Arial"/>
              </a:rPr>
              <a:t>“I’ll email all 240 employees about the payroll correction.”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E8A877"/>
                </a:solidFill>
                <a:latin typeface="Arial"/>
              </a:rPr>
              <a:t>CONSULTANT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11091672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A877"/>
                </a:solidFill>
                <a:latin typeface="Arial"/>
              </a:rPr>
              <a:t>“No, call their HR director first, because last time she heard it from her own staff and they nearly left us.”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9FB0CC"/>
                </a:solidFill>
                <a:latin typeface="Arial"/>
              </a:rPr>
              <a:t>No document has this. No search finds it.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5998464" y="5020055"/>
            <a:ext cx="201168" cy="201168"/>
          </a:xfrm>
          <a:prstGeom prst="ellipse">
            <a:avLst/>
          </a:prstGeom>
          <a:gradFill rotWithShape="1">
            <a:gsLst>
              <a:gs pos="0">
                <a:srgbClr val="E8A877">
                  <a:alpha val="60000"/>
                </a:srgbClr>
              </a:gs>
              <a:gs pos="100000">
                <a:srgbClr val="B8688F">
                  <a:alpha val="60000"/>
                </a:srgbClr>
              </a:gs>
            </a:gsLst>
            <a:lin scaled="0" ang="18900000"/>
          </a:gradFill>
          <a:ln>
            <a:noFill/>
          </a:ln>
          <a:effectLst>
            <a:softEdge rad="3621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ar"/>
          <p:cNvSpPr/>
          <p:nvPr/>
        </p:nvSpPr>
        <p:spPr>
          <a:xfrm>
            <a:off x="5638647" y="4462272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8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1672" cy="11887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5000"/>
              </a:lnSpc>
            </a:pPr>
            <a:r>
              <a:rPr sz="6000" b="1" i="0">
                <a:solidFill>
                  <a:srgbClr val="F4F8FF"/>
                </a:solidFill>
                <a:latin typeface="Arial"/>
              </a:rPr>
              <a:t>Then they close the tab.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1109167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6000" b="1" i="0">
                <a:solidFill>
                  <a:srgbClr val="E8A877"/>
                </a:solidFill>
                <a:latin typeface="Arial"/>
              </a:rPr>
              <a:t>And it’s gone.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9144000" y="3108960"/>
            <a:ext cx="2926080" cy="2926080"/>
          </a:xfrm>
          <a:prstGeom prst="ellipse">
            <a:avLst/>
          </a:prstGeom>
          <a:gradFill rotWithShape="1">
            <a:gsLst>
              <a:gs pos="0">
                <a:srgbClr val="E8A877">
                  <a:alpha val="28000"/>
                </a:srgbClr>
              </a:gs>
              <a:gs pos="100000">
                <a:srgbClr val="B8688F">
                  <a:alpha val="28000"/>
                </a:srgbClr>
              </a:gs>
            </a:gsLst>
            <a:lin scaled="0" ang="18900000"/>
          </a:gradFill>
          <a:ln>
            <a:noFill/>
          </a:ln>
          <a:effectLst>
            <a:softEdge rad="526694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ar"/>
          <p:cNvSpPr/>
          <p:nvPr/>
        </p:nvSpPr>
        <p:spPr>
          <a:xfrm>
            <a:off x="548640" y="5138928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8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4F8FF"/>
                </a:solidFill>
                <a:latin typeface="Arial"/>
              </a:rPr>
              <a:t>Every knowledge tool trusts the document and its owner.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9FB0CC"/>
                </a:solidFill>
                <a:latin typeface="Arial"/>
              </a:rPr>
              <a:t>But the AI wrote the document. The owner pressed enter.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E8A877"/>
                </a:solidFill>
                <a:latin typeface="Arial"/>
              </a:rPr>
              <a:t>The author is no longer the expert.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11091672" cy="2651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8800" b="1" i="0">
                <a:solidFill>
                  <a:srgbClr val="E8A877"/>
                </a:solidFill>
                <a:latin typeface="Arial"/>
              </a:rPr>
              <a:t>Unless.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3721608" y="-960120"/>
            <a:ext cx="4754880" cy="4754880"/>
          </a:xfrm>
          <a:prstGeom prst="ellipse">
            <a:avLst/>
          </a:prstGeom>
          <a:gradFill rotWithShape="1">
            <a:gsLst>
              <a:gs pos="0">
                <a:srgbClr val="E8A877">
                  <a:alpha val="45000"/>
                </a:srgbClr>
              </a:gs>
              <a:gs pos="100000">
                <a:srgbClr val="B8688F">
                  <a:alpha val="45000"/>
                </a:srgbClr>
              </a:gs>
            </a:gsLst>
            <a:lin scaled="0" ang="18900000"/>
          </a:gradFill>
          <a:ln>
            <a:noFill/>
          </a:ln>
          <a:effectLst>
            <a:softEdge rad="855878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ar"/>
          <p:cNvSpPr/>
          <p:nvPr/>
        </p:nvSpPr>
        <p:spPr>
          <a:xfrm>
            <a:off x="5638647" y="4224528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8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ordmark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395" y="685800"/>
            <a:ext cx="6956904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146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9FB0CC"/>
                </a:solidFill>
                <a:latin typeface="Arial"/>
              </a:rPr>
              <a:t>Say it out 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109167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6600" b="1" i="0">
                <a:solidFill>
                  <a:srgbClr val="E8A877"/>
                </a:solidFill>
                <a:latin typeface="Arial"/>
              </a:rPr>
              <a:t>No, because.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34840"/>
            <a:ext cx="9994392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F4F8FF"/>
                </a:solidFill>
                <a:latin typeface="Arial"/>
              </a:rPr>
              <a:t>We keep the one sentence where your expert tells the AI why it’s wrong. With their name on it.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9966960" y="-548640"/>
            <a:ext cx="2743200" cy="2743200"/>
          </a:xfrm>
          <a:prstGeom prst="ellipse">
            <a:avLst/>
          </a:prstGeom>
          <a:gradFill rotWithShape="1">
            <a:gsLst>
              <a:gs pos="0">
                <a:srgbClr val="E8A877">
                  <a:alpha val="28000"/>
                </a:srgbClr>
              </a:gs>
              <a:gs pos="100000">
                <a:srgbClr val="B8688F">
                  <a:alpha val="28000"/>
                </a:srgbClr>
              </a:gs>
            </a:gsLst>
            <a:lin scaled="0" ang="18900000"/>
          </a:gradFill>
          <a:ln>
            <a:noFill/>
          </a:ln>
          <a:effectLst>
            <a:softEdge rad="49377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ar"/>
          <p:cNvSpPr/>
          <p:nvPr/>
        </p:nvSpPr>
        <p:spPr>
          <a:xfrm>
            <a:off x="2697480" y="1700784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8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9ED2FF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4F8FF"/>
                </a:solidFill>
                <a:latin typeface="Arial"/>
              </a:rPr>
              <a:t>Ask it. </a:t>
            </a:r>
            <a:r>
              <a:rPr sz="4400" b="1" i="0">
                <a:solidFill>
                  <a:srgbClr val="E8A877"/>
                </a:solidFill>
                <a:latin typeface="Arial"/>
              </a:rPr>
              <a:t>Get the why.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1672" cy="3931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0451592" cy="33832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Arial"/>
              </a:rPr>
              <a:t>PLACEHOLDER: Ask screen, cropped to the answer card only. Question: “Can I email the employees about the payroll correction?” Answer: Tristan, “corrected the AI”, today, with his quote about calling the HR director first. Save as assets/v2-ask.png.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400" b="0" i="0">
                <a:solidFill>
                  <a:srgbClr val="F4F8FF"/>
                </a:solidFill>
                <a:latin typeface="Arial"/>
              </a:rPr>
              <a:t>The answer is a person’s own words, not a document.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457200" y="4754880"/>
            <a:ext cx="2743200" cy="2743200"/>
          </a:xfrm>
          <a:prstGeom prst="ellipse">
            <a:avLst/>
          </a:prstGeom>
          <a:gradFill rotWithShape="1">
            <a:gsLst>
              <a:gs pos="0">
                <a:srgbClr val="E8A877">
                  <a:alpha val="28000"/>
                </a:srgbClr>
              </a:gs>
              <a:gs pos="100000">
                <a:srgbClr val="B8688F">
                  <a:alpha val="28000"/>
                </a:srgbClr>
              </a:gs>
            </a:gsLst>
            <a:lin scaled="0" ang="18900000"/>
          </a:gradFill>
          <a:ln>
            <a:noFill/>
          </a:ln>
          <a:effectLst>
            <a:softEdge rad="49377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ar"/>
          <p:cNvSpPr/>
          <p:nvPr/>
        </p:nvSpPr>
        <p:spPr>
          <a:xfrm>
            <a:off x="5638647" y="653796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8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9ED2FF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4F8FF"/>
                </a:solidFill>
                <a:latin typeface="Arial"/>
              </a:rPr>
              <a:t>Say Tristan goes on paternity leave on Monday.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389120" cy="3749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4F8FF"/>
                </a:solidFill>
                <a:latin typeface="Arial"/>
              </a:rPr>
              <a:t>What does only</a:t>
            </a:r>
          </a:p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4F8FF"/>
                </a:solidFill>
                <a:latin typeface="Arial"/>
              </a:rPr>
              <a:t>he know?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0" y="1828800"/>
            <a:ext cx="6382512" cy="3931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2103120"/>
            <a:ext cx="5742432" cy="33832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Arial"/>
              </a:rPr>
              <a:t>PLACEHOLDER: Map screen, cropped to the topics where only Tristan still reasons about it (“Only one person still reasons about this”). Save as assets/v2-leave.png.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400" b="0" i="0">
                <a:solidFill>
                  <a:srgbClr val="E8A877"/>
                </a:solidFill>
                <a:latin typeface="Arial"/>
              </a:rPr>
              <a:t>See what leaves with him, before he leaves.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9966960" y="4754880"/>
            <a:ext cx="2743200" cy="2743200"/>
          </a:xfrm>
          <a:prstGeom prst="ellipse">
            <a:avLst/>
          </a:prstGeom>
          <a:gradFill rotWithShape="1">
            <a:gsLst>
              <a:gs pos="0">
                <a:srgbClr val="E8A877">
                  <a:alpha val="28000"/>
                </a:srgbClr>
              </a:gs>
              <a:gs pos="100000">
                <a:srgbClr val="B8688F">
                  <a:alpha val="28000"/>
                </a:srgbClr>
              </a:gs>
            </a:gsLst>
            <a:lin scaled="0" ang="18900000"/>
          </a:gradFill>
          <a:ln>
            <a:noFill/>
          </a:ln>
          <a:effectLst>
            <a:softEdge rad="49377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ar"/>
          <p:cNvSpPr/>
          <p:nvPr/>
        </p:nvSpPr>
        <p:spPr>
          <a:xfrm>
            <a:off x="6446520" y="1700784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8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9ED2FF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4F8FF"/>
                </a:solidFill>
                <a:latin typeface="Arial"/>
              </a:rPr>
              <a:t>A fact without a why? </a:t>
            </a:r>
            <a:r>
              <a:rPr sz="4400" b="1" i="0">
                <a:solidFill>
                  <a:srgbClr val="E8A877"/>
                </a:solidFill>
                <a:latin typeface="Arial"/>
              </a:rPr>
              <a:t>Ask a human.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389120" cy="3749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F4F8FF"/>
                </a:solidFill>
                <a:latin typeface="Arial"/>
              </a:rPr>
              <a:t>In the system: this client</a:t>
            </a:r>
          </a:p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F4F8FF"/>
                </a:solidFill>
                <a:latin typeface="Arial"/>
              </a:rPr>
              <a:t>is paid on the 23rd,</a:t>
            </a:r>
          </a:p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F4F8FF"/>
                </a:solidFill>
                <a:latin typeface="Arial"/>
              </a:rPr>
              <a:t>not the 25th.</a:t>
            </a:r>
          </a:p>
          <a:p>
            <a:pPr algn="l">
              <a:lnSpc>
                <a:spcPct val="110000"/>
              </a:lnSpc>
              <a:spcBef>
                <a:spcPts val="1400"/>
              </a:spcBef>
            </a:pPr>
            <a:r>
              <a:rPr sz="2400" b="0" i="0">
                <a:solidFill>
                  <a:srgbClr val="F4F8FF"/>
                </a:solidFill>
                <a:latin typeface="Arial"/>
              </a:rPr>
              <a:t>Nobody recorded why.</a:t>
            </a:r>
          </a:p>
          <a:p>
            <a:pPr algn="l">
              <a:lnSpc>
                <a:spcPct val="110000"/>
              </a:lnSpc>
              <a:spcBef>
                <a:spcPts val="1400"/>
              </a:spcBef>
            </a:pPr>
            <a:r>
              <a:rPr sz="2400" b="0" i="0">
                <a:solidFill>
                  <a:srgbClr val="F4F8FF"/>
                </a:solidFill>
                <a:latin typeface="Arial"/>
              </a:rPr>
              <a:t>Nobikos asks the one person who changed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0" y="1828800"/>
            <a:ext cx="6382512" cy="3931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2103120"/>
            <a:ext cx="5742432" cy="33832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Arial"/>
              </a:rPr>
              <a:t>PLACEHOLDER: Gaps board or call, cropped to one item: a change without a why, the question to the person who made it (“Was that because...?”) and their answer in their own words. Save as assets/v2-askback.png.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400" b="0" i="0">
                <a:solidFill>
                  <a:srgbClr val="E8A877"/>
                </a:solidFill>
                <a:latin typeface="Arial"/>
              </a:rPr>
              <a:t>AI guesses never count.</a:t>
            </a:r>
            <a:r>
              <a:rPr sz="2400" b="0" i="0">
                <a:solidFill>
                  <a:srgbClr val="F4F8FF"/>
                </a:solidFill>
                <a:latin typeface="Arial"/>
              </a:rPr>
              <a:t> Only their own words do.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8778240" y="-457200"/>
            <a:ext cx="3657600" cy="3657600"/>
          </a:xfrm>
          <a:prstGeom prst="ellipse">
            <a:avLst/>
          </a:prstGeom>
          <a:gradFill rotWithShape="1">
            <a:gsLst>
              <a:gs pos="0">
                <a:srgbClr val="E8A877">
                  <a:alpha val="28000"/>
                </a:srgbClr>
              </a:gs>
              <a:gs pos="100000">
                <a:srgbClr val="B8688F">
                  <a:alpha val="28000"/>
                </a:srgbClr>
              </a:gs>
            </a:gsLst>
            <a:lin scaled="0" ang="18900000"/>
          </a:gradFill>
          <a:ln>
            <a:noFill/>
          </a:ln>
          <a:effectLst>
            <a:softEdge rad="658368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ar"/>
          <p:cNvSpPr/>
          <p:nvPr/>
        </p:nvSpPr>
        <p:spPr>
          <a:xfrm>
            <a:off x="548640" y="173736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8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4F8FF"/>
                </a:solidFill>
                <a:latin typeface="Arial"/>
              </a:rPr>
              <a:t>You won’t notice it. Until it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91672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0" i="0">
                <a:solidFill>
                  <a:srgbClr val="F4F8FF"/>
                </a:solidFill>
                <a:latin typeface="Arial"/>
              </a:rPr>
              <a:t>Nobody writes a document.</a:t>
            </a:r>
          </a:p>
          <a:p>
            <a:pPr algn="l">
              <a:lnSpc>
                <a:spcPct val="112000"/>
              </a:lnSpc>
            </a:pPr>
            <a:r>
              <a:rPr sz="3200" b="0" i="0">
                <a:solidFill>
                  <a:srgbClr val="F4F8FF"/>
                </a:solidFill>
                <a:latin typeface="Arial"/>
              </a:rPr>
              <a:t>Nobikos listens for </a:t>
            </a:r>
            <a:r>
              <a:rPr sz="3200" b="0" i="0">
                <a:solidFill>
                  <a:srgbClr val="E8A877"/>
                </a:solidFill>
                <a:latin typeface="Arial"/>
              </a:rPr>
              <a:t>“no, because”</a:t>
            </a:r>
          </a:p>
          <a:p>
            <a:pPr algn="l">
              <a:lnSpc>
                <a:spcPct val="112000"/>
              </a:lnSpc>
            </a:pPr>
            <a:r>
              <a:rPr sz="3200" b="0" i="0">
                <a:solidFill>
                  <a:srgbClr val="F4F8FF"/>
                </a:solidFill>
                <a:latin typeface="Arial"/>
              </a:rPr>
              <a:t>in the AI chats you already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0" i="0">
                <a:solidFill>
                  <a:srgbClr val="9FB0CC"/>
                </a:solidFill>
                <a:latin typeface="Arial"/>
              </a:rPr>
              <a:t>It only asks you something</a:t>
            </a:r>
          </a:p>
          <a:p>
            <a:pPr algn="l">
              <a:lnSpc>
                <a:spcPct val="112000"/>
              </a:lnSpc>
            </a:pPr>
            <a:r>
              <a:rPr sz="3200" b="0" i="0">
                <a:solidFill>
                  <a:srgbClr val="9FB0CC"/>
                </a:solidFill>
                <a:latin typeface="Arial"/>
              </a:rPr>
              <a:t>when you’re the last one who knows why.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3995928" y="1737360"/>
            <a:ext cx="4206240" cy="4206240"/>
          </a:xfrm>
          <a:prstGeom prst="ellipse">
            <a:avLst/>
          </a:prstGeom>
          <a:gradFill rotWithShape="1">
            <a:gsLst>
              <a:gs pos="0">
                <a:srgbClr val="E8A877">
                  <a:alpha val="28000"/>
                </a:srgbClr>
              </a:gs>
              <a:gs pos="100000">
                <a:srgbClr val="B8688F">
                  <a:alpha val="28000"/>
                </a:srgbClr>
              </a:gs>
            </a:gsLst>
            <a:lin scaled="0" ang="18900000"/>
          </a:gradFill>
          <a:ln>
            <a:noFill/>
          </a:ln>
          <a:effectLst>
            <a:softEdge rad="757123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ar"/>
          <p:cNvSpPr/>
          <p:nvPr/>
        </p:nvSpPr>
        <p:spPr>
          <a:xfrm>
            <a:off x="914400" y="4873752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8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4F8FF"/>
                </a:solidFill>
                <a:latin typeface="Arial"/>
              </a:rPr>
              <a:t>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54396" cy="2011680"/>
          </a:xfrm>
          <a:prstGeom prst="roundRect">
            <a:avLst>
              <a:gd name="adj" fmla="val 9090"/>
            </a:avLst>
          </a:prstGeom>
          <a:solidFill>
            <a:srgbClr val="F4F8FF">
              <a:alpha val="6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22876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4F8FF"/>
                </a:solidFill>
                <a:latin typeface="Arial"/>
              </a:rPr>
              <a:t>1  Catch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490575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F4F8FF"/>
                </a:solidFill>
                <a:latin typeface="Arial"/>
              </a:rPr>
              <a:t>the “no, because” in AI chats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1691640"/>
            <a:ext cx="5454396" cy="2011680"/>
          </a:xfrm>
          <a:prstGeom prst="roundRect">
            <a:avLst>
              <a:gd name="adj" fmla="val 9090"/>
            </a:avLst>
          </a:prstGeom>
          <a:solidFill>
            <a:srgbClr val="F4F8FF">
              <a:alpha val="6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51676" y="1965960"/>
            <a:ext cx="4722876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4F8FF"/>
                </a:solidFill>
                <a:latin typeface="Arial"/>
              </a:rPr>
              <a:t>2  Weigh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6" y="2788920"/>
            <a:ext cx="490575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F4F8FF"/>
                </a:solidFill>
                <a:latin typeface="Arial"/>
              </a:rPr>
              <a:t>who reasoned, and how recently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454396" cy="2011680"/>
          </a:xfrm>
          <a:prstGeom prst="roundRect">
            <a:avLst>
              <a:gd name="adj" fmla="val 9090"/>
            </a:avLst>
          </a:prstGeom>
          <a:solidFill>
            <a:srgbClr val="F4F8FF">
              <a:alpha val="6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4722876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E8A877"/>
                </a:solidFill>
                <a:latin typeface="Arial"/>
              </a:rPr>
              <a:t>3  Ask 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490575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F4F8FF"/>
                </a:solidFill>
                <a:latin typeface="Arial"/>
              </a:rPr>
              <a:t>when only one person knows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5916" y="3931920"/>
            <a:ext cx="5454396" cy="2011680"/>
          </a:xfrm>
          <a:prstGeom prst="roundRect">
            <a:avLst>
              <a:gd name="adj" fmla="val 9090"/>
            </a:avLst>
          </a:prstGeom>
          <a:solidFill>
            <a:srgbClr val="F4F8FF">
              <a:alpha val="6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51676" y="4206240"/>
            <a:ext cx="4722876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4F8FF"/>
                </a:solidFill>
                <a:latin typeface="Arial"/>
              </a:rPr>
              <a:t>4 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1676" y="5029200"/>
            <a:ext cx="490575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F4F8FF"/>
                </a:solidFill>
                <a:latin typeface="Arial"/>
              </a:rPr>
              <a:t>in Slack, by voice, in your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8961120" y="2743200"/>
            <a:ext cx="3657600" cy="3657600"/>
          </a:xfrm>
          <a:prstGeom prst="ellipse">
            <a:avLst/>
          </a:prstGeom>
          <a:gradFill rotWithShape="1">
            <a:gsLst>
              <a:gs pos="0">
                <a:srgbClr val="E8A877">
                  <a:alpha val="28000"/>
                </a:srgbClr>
              </a:gs>
              <a:gs pos="100000">
                <a:srgbClr val="B8688F">
                  <a:alpha val="28000"/>
                </a:srgbClr>
              </a:gs>
            </a:gsLst>
            <a:lin scaled="0" ang="18900000"/>
          </a:gradFill>
          <a:ln>
            <a:noFill/>
          </a:ln>
          <a:effectLst>
            <a:softEdge rad="658368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ar"/>
          <p:cNvSpPr/>
          <p:nvPr/>
        </p:nvSpPr>
        <p:spPr>
          <a:xfrm>
            <a:off x="548640" y="5084064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8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9ED2FF"/>
                </a:solidFill>
                <a:latin typeface="Arial"/>
              </a:rPr>
              <a:t>IN TEN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9FB0CC"/>
                </a:solidFill>
                <a:latin typeface="Arial"/>
              </a:rPr>
              <a:t>AI writes the document.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C9D6EA"/>
                </a:solidFill>
                <a:latin typeface="Arial"/>
              </a:rPr>
              <a:t>AI reads the document.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4F8FF"/>
                </a:solidFill>
                <a:latin typeface="Arial"/>
              </a:rPr>
              <a:t>AI answers from the document.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E8A877"/>
                </a:solidFill>
                <a:latin typeface="Arial"/>
              </a:rPr>
              <a:t>AI slop, with AI slop as its source.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9052560" y="3291839"/>
            <a:ext cx="3108960" cy="3108960"/>
          </a:xfrm>
          <a:prstGeom prst="ellipse">
            <a:avLst/>
          </a:prstGeom>
          <a:gradFill rotWithShape="1">
            <a:gsLst>
              <a:gs pos="0">
                <a:srgbClr val="E8A877">
                  <a:alpha val="28000"/>
                </a:srgbClr>
              </a:gs>
              <a:gs pos="100000">
                <a:srgbClr val="B8688F">
                  <a:alpha val="28000"/>
                </a:srgbClr>
              </a:gs>
            </a:gsLst>
            <a:lin scaled="0" ang="18900000"/>
          </a:gradFill>
          <a:ln>
            <a:noFill/>
          </a:ln>
          <a:effectLst>
            <a:softEdge rad="559612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9ED2FF"/>
                </a:solidFill>
                <a:latin typeface="Arial"/>
              </a:rPr>
              <a:t>2006.</a:t>
            </a:r>
            <a:r>
              <a:rPr sz="4000" b="1" i="0">
                <a:solidFill>
                  <a:srgbClr val="F4F8FF"/>
                </a:solidFill>
                <a:latin typeface="Arial"/>
              </a:rPr>
              <a:t> Jan builds the payroll mainframe.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9ED2FF"/>
                </a:solidFill>
                <a:latin typeface="Arial"/>
              </a:rPr>
              <a:t>For twenty years</a:t>
            </a:r>
            <a:r>
              <a:rPr sz="4000" b="1" i="0">
                <a:solidFill>
                  <a:srgbClr val="F4F8FF"/>
                </a:solidFill>
                <a:latin typeface="Arial"/>
              </a:rPr>
              <a:t> it just works. Every question goes to the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9ED2FF"/>
                </a:solidFill>
                <a:latin typeface="Arial"/>
              </a:rPr>
              <a:t>Last year,</a:t>
            </a:r>
            <a:r>
              <a:rPr sz="4000" b="1" i="0">
                <a:solidFill>
                  <a:srgbClr val="F4F8FF"/>
                </a:solidFill>
                <a:latin typeface="Arial"/>
              </a:rPr>
              <a:t> Jan retired.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5623560"/>
            <a:ext cx="11091672" cy="0"/>
          </a:xfrm>
          <a:prstGeom prst="line">
            <a:avLst/>
          </a:prstGeom>
          <a:ln w="19050">
            <a:solidFill>
              <a:srgbClr val="9E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53374" y="5495544"/>
            <a:ext cx="256032" cy="256032"/>
          </a:xfrm>
          <a:prstGeom prst="ellipse">
            <a:avLst/>
          </a:prstGeom>
          <a:solidFill>
            <a:srgbClr val="9E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490209" y="58521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9ED2FF"/>
                </a:solidFill>
                <a:latin typeface="Arial"/>
              </a:rPr>
              <a:t>2006</a:t>
            </a:r>
          </a:p>
        </p:txBody>
      </p:sp>
      <p:sp>
        <p:nvSpPr>
          <p:cNvPr id="9" name="Oval 8"/>
          <p:cNvSpPr/>
          <p:nvPr/>
        </p:nvSpPr>
        <p:spPr>
          <a:xfrm>
            <a:off x="5966460" y="5495544"/>
            <a:ext cx="256032" cy="256032"/>
          </a:xfrm>
          <a:prstGeom prst="ellipse">
            <a:avLst/>
          </a:prstGeom>
          <a:solidFill>
            <a:srgbClr val="9E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2876" y="58521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9ED2FF"/>
                </a:solidFill>
                <a:latin typeface="Arial"/>
              </a:rPr>
              <a:t>twenty years</a:t>
            </a:r>
          </a:p>
        </p:txBody>
      </p:sp>
      <p:sp>
        <p:nvSpPr>
          <p:cNvPr id="11" name="Oval 10"/>
          <p:cNvSpPr/>
          <p:nvPr/>
        </p:nvSpPr>
        <p:spPr>
          <a:xfrm>
            <a:off x="11179545" y="5495544"/>
            <a:ext cx="256032" cy="256032"/>
          </a:xfrm>
          <a:prstGeom prst="ellipse">
            <a:avLst/>
          </a:prstGeom>
          <a:solidFill>
            <a:srgbClr val="E8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35961" y="58521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9ED2FF"/>
                </a:solidFill>
                <a:latin typeface="Arial"/>
              </a:rPr>
              <a:t>last year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DA3300"/>
                </a:solidFill>
                <a:latin typeface="Arial"/>
              </a:rPr>
              <a:t>Tonight, 03:12. A security incident.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1672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6000" b="1" i="0">
                <a:solidFill>
                  <a:srgbClr val="FFFFFF"/>
                </a:solidFill>
                <a:latin typeface="Arial"/>
              </a:rPr>
              <a:t>Who still understands</a:t>
            </a:r>
          </a:p>
          <a:p>
            <a:pPr algn="ctr">
              <a:lnSpc>
                <a:spcPct val="105000"/>
              </a:lnSpc>
            </a:pPr>
            <a:r>
              <a:rPr sz="6000" b="1" i="0">
                <a:solidFill>
                  <a:srgbClr val="FFFFFF"/>
                </a:solidFill>
                <a:latin typeface="Arial"/>
              </a:rPr>
              <a:t>this system?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91672" cy="3566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0" b="1" i="0">
                <a:solidFill>
                  <a:srgbClr val="FFFFFF"/>
                </a:solidFill>
                <a:latin typeface="Arial"/>
              </a:rPr>
              <a:t>Nobody.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7680960" y="-502919"/>
            <a:ext cx="3474720" cy="3474720"/>
          </a:xfrm>
          <a:prstGeom prst="ellipse">
            <a:avLst/>
          </a:prstGeom>
          <a:gradFill rotWithShape="1">
            <a:gsLst>
              <a:gs pos="0">
                <a:srgbClr val="E8A877">
                  <a:alpha val="28000"/>
                </a:srgbClr>
              </a:gs>
              <a:gs pos="100000">
                <a:srgbClr val="B8688F">
                  <a:alpha val="28000"/>
                </a:srgbClr>
              </a:gs>
            </a:gsLst>
            <a:lin scaled="0" ang="18900000"/>
          </a:gradFill>
          <a:ln>
            <a:noFill/>
          </a:ln>
          <a:effectLst>
            <a:softEdge rad="625449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ar"/>
          <p:cNvSpPr/>
          <p:nvPr/>
        </p:nvSpPr>
        <p:spPr>
          <a:xfrm>
            <a:off x="548640" y="4956048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8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8800" b="1" i="0">
                <a:solidFill>
                  <a:srgbClr val="F4F8FF"/>
                </a:solidFill>
                <a:latin typeface="Arial"/>
              </a:rPr>
              <a:t>Zero or one.</a:t>
            </a:r>
          </a:p>
        </p:txBody>
      </p:sp>
      <p:sp>
        <p:nvSpPr>
          <p:cNvPr id="5" name="Oval 4"/>
          <p:cNvSpPr/>
          <p:nvPr/>
        </p:nvSpPr>
        <p:spPr>
          <a:xfrm>
            <a:off x="8503920" y="411480"/>
            <a:ext cx="1554480" cy="1554480"/>
          </a:xfrm>
          <a:prstGeom prst="ellipse">
            <a:avLst/>
          </a:prstGeom>
          <a:noFill/>
          <a:ln w="31750">
            <a:solidFill>
              <a:srgbClr val="E8A8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411480"/>
            <a:ext cx="1554480" cy="1554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600" b="1" i="0">
                <a:solidFill>
                  <a:srgbClr val="E8A877"/>
                </a:solidFill>
                <a:latin typeface="Arial"/>
              </a:rPr>
              <a:t>0</a:t>
            </a:r>
          </a:p>
        </p:txBody>
      </p:sp>
      <p:sp>
        <p:nvSpPr>
          <p:cNvPr id="7" name="Oval 6"/>
          <p:cNvSpPr/>
          <p:nvPr/>
        </p:nvSpPr>
        <p:spPr>
          <a:xfrm>
            <a:off x="10287000" y="411480"/>
            <a:ext cx="1554480" cy="1554480"/>
          </a:xfrm>
          <a:prstGeom prst="ellipse">
            <a:avLst/>
          </a:prstGeom>
          <a:noFill/>
          <a:ln w="31750">
            <a:solidFill>
              <a:srgbClr val="E8A8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0" y="411480"/>
            <a:ext cx="1554480" cy="1554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600" b="1" i="0">
                <a:solidFill>
                  <a:srgbClr val="E8A877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1091672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F4F8FF"/>
                </a:solidFill>
                <a:latin typeface="Arial"/>
              </a:rPr>
              <a:t>Nobikos finds every system, process and client</a:t>
            </a:r>
          </a:p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F4F8FF"/>
                </a:solidFill>
                <a:latin typeface="Arial"/>
              </a:rPr>
              <a:t>that zero or one people still understand.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11091672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8A877"/>
                </a:solidFill>
                <a:latin typeface="Arial"/>
              </a:rPr>
              <a:t>Before the incident. Before the retirement.</a:t>
            </a:r>
          </a:p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8A877"/>
                </a:solidFill>
                <a:latin typeface="Arial"/>
              </a:rPr>
              <a:t>While there’s still someone to ask.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9FB0CC"/>
                </a:solidFill>
                <a:latin typeface="Arial"/>
              </a:rPr>
              <a:t>Future-proof for the biggest workforce transformation of our time.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4087368" y="3017520"/>
            <a:ext cx="4023360" cy="4023360"/>
          </a:xfrm>
          <a:prstGeom prst="ellipse">
            <a:avLst/>
          </a:prstGeom>
          <a:gradFill rotWithShape="1">
            <a:gsLst>
              <a:gs pos="0">
                <a:srgbClr val="E8A877">
                  <a:alpha val="40000"/>
                </a:srgbClr>
              </a:gs>
              <a:gs pos="100000">
                <a:srgbClr val="B8688F">
                  <a:alpha val="40000"/>
                </a:srgbClr>
              </a:gs>
            </a:gsLst>
            <a:lin scaled="0" ang="18900000"/>
          </a:gradFill>
          <a:ln>
            <a:noFill/>
          </a:ln>
          <a:effectLst>
            <a:softEdge rad="724204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ar"/>
          <p:cNvSpPr/>
          <p:nvPr/>
        </p:nvSpPr>
        <p:spPr>
          <a:xfrm>
            <a:off x="5638647" y="3438144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8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2800" b="0" i="0">
                <a:solidFill>
                  <a:srgbClr val="9FB0CC"/>
                </a:solidFill>
                <a:latin typeface="Arial"/>
              </a:rPr>
              <a:t>Remember the hands that went down?</a:t>
            </a:r>
          </a:p>
          <a:p>
            <a:pPr algn="ctr">
              <a:lnSpc>
                <a:spcPct val="110000"/>
              </a:lnSpc>
            </a:pPr>
            <a:r>
              <a:rPr sz="2800" b="0" i="0">
                <a:solidFill>
                  <a:srgbClr val="9FB0CC"/>
                </a:solidFill>
                <a:latin typeface="Arial"/>
              </a:rPr>
              <a:t>That’s the why your company loses, every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F4F8FF"/>
                </a:solidFill>
                <a:latin typeface="Arial"/>
              </a:rPr>
              <a:t>AI knows what.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E8A877"/>
                </a:solidFill>
                <a:latin typeface="Arial"/>
              </a:rPr>
              <a:t>Your people know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200" b="0" i="0">
                <a:solidFill>
                  <a:srgbClr val="F4F8FF"/>
                </a:solidFill>
                <a:latin typeface="Arial"/>
              </a:rPr>
              <a:t>Nobikos keeps the why.</a:t>
            </a:r>
          </a:p>
        </p:txBody>
      </p:sp>
      <p:pic>
        <p:nvPicPr>
          <p:cNvPr id="8" name="Picture 7" descr="wordmark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710" y="4526280"/>
            <a:ext cx="5000275" cy="1051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400" b="0" i="0">
                <a:solidFill>
                  <a:srgbClr val="9FB0CC"/>
                </a:solidFill>
                <a:latin typeface="Arial"/>
              </a:rPr>
              <a:t>by PackOverflow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Nobikos, by PackOverflow</dc:title>
  <dc:subject/>
  <dc:creator>PackOverflow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